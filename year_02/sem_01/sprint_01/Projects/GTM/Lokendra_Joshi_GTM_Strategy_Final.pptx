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7.xml" ContentType="application/vnd.openxmlformats-officedocument.presentationml.slideLayout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0eb90e3014d4dd8" /><Relationship Type="http://schemas.openxmlformats.org/package/2006/relationships/metadata/core-properties" Target="/docProps/core.xml" Id="R5be6c8365f024e79" /><Relationship Type="http://schemas.openxmlformats.org/officeDocument/2006/relationships/extended-properties" Target="/docProps/app.xml" Id="Rce0a989128fa4b87" /><Relationship Type="http://schemas.openxmlformats.org/officeDocument/2006/relationships/custom-properties" Target="/docProps/custom.xml" Id="R54556d88e3ce4dc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675ea16f729b4cf9"/>
    <p:sldMasterId id="2147483654" r:id="R7fea90ab0fa04503"/>
  </p:sldMasterIdLst>
  <p:sldIdLst>
    <p:sldId id="256" r:id="R0539a475ede44f0e"/>
    <p:sldId id="257" r:id="R4fe05364711d4953"/>
    <p:sldId id="258" r:id="R9d97ae290bbf4693"/>
    <p:sldId id="259" r:id="R3addf29554764e8b"/>
    <p:sldId id="260" r:id="Rc9e7fb122c8f42c1"/>
    <p:sldId id="261" r:id="R729291790cf94f49"/>
    <p:sldId id="262" r:id="R2372a73cb42f4352"/>
  </p:sldIdLst>
  <p:sldSz cx="9144000" cy="5143500"/>
  <p:notesSz cx="5143500" cy="9144000"/>
  <p:defaultTextStyle>
    <a:defPPr>
      <a:defRPr kern="0"/>
    </a:defPPr>
  </p:defaultTextStyle>
  <p:notesMasterIdLst>
    <p:notesMasterId r:id="R8f86fbf5ed8649f0"/>
  </p:notesMasterId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5c7e0c9c2bdc411e" /><Relationship Type="http://schemas.openxmlformats.org/officeDocument/2006/relationships/viewProps" Target="/ppt/viewProps.xml" Id="R47645974b17a47e3" /><Relationship Type="http://schemas.openxmlformats.org/officeDocument/2006/relationships/slideMaster" Target="/ppt/slideMasters/slideMaster1.xml" Id="R675ea16f729b4cf9" /><Relationship Type="http://schemas.openxmlformats.org/officeDocument/2006/relationships/theme" Target="/ppt/slideMasters/theme/theme1.xml" Id="R5e739add07f54dc4" /><Relationship Type="http://schemas.openxmlformats.org/officeDocument/2006/relationships/slide" Target="/ppt/slides/slide1.xml" Id="R0539a475ede44f0e" /><Relationship Type="http://schemas.openxmlformats.org/officeDocument/2006/relationships/slideMaster" Target="/ppt/slideMasters/slideMaster2.xml" Id="R7fea90ab0fa04503" /><Relationship Type="http://schemas.openxmlformats.org/officeDocument/2006/relationships/slide" Target="/ppt/slides/slide2.xml" Id="R4fe05364711d4953" /><Relationship Type="http://schemas.openxmlformats.org/officeDocument/2006/relationships/notesMaster" Target="/ppt/notesMasters/notesMaster1.xml" Id="R8f86fbf5ed8649f0" /><Relationship Type="http://schemas.openxmlformats.org/officeDocument/2006/relationships/slide" Target="/ppt/slides/slide3.xml" Id="R9d97ae290bbf4693" /><Relationship Type="http://schemas.openxmlformats.org/officeDocument/2006/relationships/slide" Target="/ppt/slides/slide4.xml" Id="R3addf29554764e8b" /><Relationship Type="http://schemas.openxmlformats.org/officeDocument/2006/relationships/slide" Target="/ppt/slides/slide5.xml" Id="Rc9e7fb122c8f42c1" /><Relationship Type="http://schemas.openxmlformats.org/officeDocument/2006/relationships/slide" Target="/ppt/slides/slide6.xml" Id="R729291790cf94f49" /><Relationship Type="http://schemas.openxmlformats.org/officeDocument/2006/relationships/slide" Target="/ppt/slides/slide7.xml" Id="R2372a73cb42f43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9d812c0da4e4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3.xml><?xml version="1.0" encoding="utf-8"?>
<a:theme xmlns:a="http://schemas.openxmlformats.org/drawingml/2006/main" name="GTM Redesign">
  <a:themeElements>
    <a:clrScheme name="GTM Redesign">
      <a:dk1>
        <a:srgbClr val="2B2B2B"/>
      </a:dk1>
      <a:lt1>
        <a:srgbClr val="FFFFFF"/>
      </a:lt1>
      <a:dk2>
        <a:srgbClr val="10223E"/>
      </a:dk2>
      <a:lt2>
        <a:srgbClr val="FAF8F4"/>
      </a:lt2>
      <a:accent1>
        <a:srgbClr val="5E7F4F"/>
      </a:accent1>
      <a:accent2>
        <a:srgbClr val="B08D57"/>
      </a:accent2>
      <a:accent3>
        <a:srgbClr val="DDE5D3"/>
      </a:accent3>
      <a:accent4>
        <a:srgbClr val="EDE6D8"/>
      </a:accent4>
      <a:accent5>
        <a:srgbClr val="6F7378"/>
      </a:accent5>
      <a:accent6>
        <a:srgbClr val="D6D1C6"/>
      </a:accent6>
      <a:hlink>
        <a:srgbClr val="10223E"/>
      </a:hlink>
      <a:folHlink>
        <a:srgbClr val="6F7378"/>
      </a:folHlink>
    </a:clrScheme>
    <a:fontScheme name="GTM Redesign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.xml" Id="R9045c0629c734f22" /><Relationship Type="http://schemas.openxmlformats.org/officeDocument/2006/relationships/notesMaster" Target="/ppt/notesMasters/notesMaster1.xml" Id="R10dcfd66e520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.xml" Id="R481f623d14224496" /><Relationship Type="http://schemas.openxmlformats.org/officeDocument/2006/relationships/notesMaster" Target="/ppt/notesMasters/notesMaster1.xml" Id="R164d3c9ecfee4e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4.xml" Id="R1c51db8d5b964a88" /><Relationship Type="http://schemas.openxmlformats.org/officeDocument/2006/relationships/notesMaster" Target="/ppt/notesMasters/notesMaster1.xml" Id="R82713464e2d84e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5.xml" Id="Rd287248f422442b8" /><Relationship Type="http://schemas.openxmlformats.org/officeDocument/2006/relationships/notesMaster" Target="/ppt/notesMasters/notesMaster1.xml" Id="R3a28b11d851d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6.xml" Id="R48248b489edb4356" /><Relationship Type="http://schemas.openxmlformats.org/officeDocument/2006/relationships/notesMaster" Target="/ppt/notesMasters/notesMaster1.xml" Id="R3bd8689ad50b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7.xml" Id="R91256ce0ee094dad" /><Relationship Type="http://schemas.openxmlformats.org/officeDocument/2006/relationships/notesMaster" Target="/ppt/notesMasters/notesMaster1.xml" Id="Rfd66d1758ec84a2c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5cfa220ef46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3b4eb6dd9b4e19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F7378"/>
                </a:solidFill>
              </a:rPr>
              <a:t>Millet Breakfast Kit  |  Kharghar GTM Pilot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97d76663c46468b" /><Relationship Type="http://schemas.openxmlformats.org/officeDocument/2006/relationships/slideLayout" Target="/ppt/slideLayouts/slideLayout5.xml" Id="R6d2b35b1172744f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76f790f00443b4" /><Relationship Type="http://schemas.openxmlformats.org/officeDocument/2006/relationships/slideLayout" Target="/ppt/slideLayouts/slideLayout7.xml" Id="R49fe27c908c3488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7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6d2b35b1172744f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49fe27c908c3488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Masters/theme/theme2.xml><?xml version="1.0" encoding="utf-8"?>
<a:theme xmlns:a="http://schemas.openxmlformats.org/drawingml/2006/main" name="GTM Redesign">
  <a:themeElements>
    <a:clrScheme name="GTM Redesign">
      <a:dk1>
        <a:srgbClr val="2B2B2B"/>
      </a:dk1>
      <a:lt1>
        <a:srgbClr val="FFFFFF"/>
      </a:lt1>
      <a:dk2>
        <a:srgbClr val="10223E"/>
      </a:dk2>
      <a:lt2>
        <a:srgbClr val="FAF8F4"/>
      </a:lt2>
      <a:accent1>
        <a:srgbClr val="5E7F4F"/>
      </a:accent1>
      <a:accent2>
        <a:srgbClr val="B08D57"/>
      </a:accent2>
      <a:accent3>
        <a:srgbClr val="DDE5D3"/>
      </a:accent3>
      <a:accent4>
        <a:srgbClr val="EDE6D8"/>
      </a:accent4>
      <a:accent5>
        <a:srgbClr val="6F7378"/>
      </a:accent5>
      <a:accent6>
        <a:srgbClr val="D6D1C6"/>
      </a:accent6>
      <a:hlink>
        <a:srgbClr val="10223E"/>
      </a:hlink>
      <a:folHlink>
        <a:srgbClr val="6F7378"/>
      </a:folHlink>
    </a:clrScheme>
    <a:fontScheme name="GTM Redesign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1022c5517c284997" /><Relationship Type="http://schemas.openxmlformats.org/officeDocument/2006/relationships/image" Target="/ppt/media/image2.png" Id="R18568f03c2854a4f" /><Relationship Type="http://schemas.openxmlformats.org/officeDocument/2006/relationships/image" Target="/ppt/media/image3.png" Id="R332a7c1c9a4f4cd8" /><Relationship Type="http://schemas.openxmlformats.org/officeDocument/2006/relationships/image" Target="/ppt/media/image4.png" Id="R2d27840323974adb" /><Relationship Type="http://schemas.openxmlformats.org/officeDocument/2006/relationships/image" Target="/ppt/media/image5.png" Id="R972d9c92c7dd4aaa" /><Relationship Type="http://schemas.openxmlformats.org/officeDocument/2006/relationships/image" Target="/ppt/media/image6.png" Id="R3586aac5df214c7d" /><Relationship Type="http://schemas.openxmlformats.org/officeDocument/2006/relationships/slideLayout" Target="/ppt/slideLayouts/slideLayout5.xml" Id="R8f4224a68c7f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7.png" Id="Ra48e843e72034c7e" /><Relationship Type="http://schemas.openxmlformats.org/officeDocument/2006/relationships/image" Target="/ppt/media/image8.png" Id="R536cde0a2bb1459e" /><Relationship Type="http://schemas.openxmlformats.org/officeDocument/2006/relationships/image" Target="/ppt/media/image9.png" Id="Rf94e51a8cedf4dca" /><Relationship Type="http://schemas.openxmlformats.org/officeDocument/2006/relationships/image" Target="/ppt/media/image10.png" Id="R81d27ba90a7a420e" /><Relationship Type="http://schemas.openxmlformats.org/officeDocument/2006/relationships/image" Target="/ppt/media/image11.png" Id="Rf3778ece5dc14db6" /><Relationship Type="http://schemas.openxmlformats.org/officeDocument/2006/relationships/image" Target="/ppt/media/image12.png" Id="R6be38b58c16f4613" /><Relationship Type="http://schemas.openxmlformats.org/officeDocument/2006/relationships/image" Target="/ppt/media/image13.png" Id="R79b4ce9c949b4fc7" /><Relationship Type="http://schemas.openxmlformats.org/officeDocument/2006/relationships/image" Target="/ppt/media/image14.png" Id="R68ce9e922e9e4032" /><Relationship Type="http://schemas.openxmlformats.org/officeDocument/2006/relationships/image" Target="/ppt/media/image15.png" Id="R8fe76b3ffbb04553" /><Relationship Type="http://schemas.openxmlformats.org/officeDocument/2006/relationships/image" Target="/ppt/media/image16.png" Id="Rcda28613042d4721" /><Relationship Type="http://schemas.openxmlformats.org/officeDocument/2006/relationships/image" Target="/ppt/media/image17.png" Id="Rf5f8b8e5b5654c43" /><Relationship Type="http://schemas.openxmlformats.org/officeDocument/2006/relationships/image" Target="/ppt/media/image18.png" Id="R99944cde8a194ec1" /><Relationship Type="http://schemas.openxmlformats.org/officeDocument/2006/relationships/notesSlide" Target="/ppt/notesSlides/notesSlide1.xml" Id="R97356e7fef0e4d0b" /><Relationship Type="http://schemas.openxmlformats.org/officeDocument/2006/relationships/slideLayout" Target="/ppt/slideLayouts/slideLayout7.xml" Id="Rbce944b5889243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9.png" Id="R457fdc61eb1945d5" /><Relationship Type="http://schemas.openxmlformats.org/officeDocument/2006/relationships/image" Target="/ppt/media/image20.png" Id="R9f717d436e4d42bf" /><Relationship Type="http://schemas.openxmlformats.org/officeDocument/2006/relationships/image" Target="/ppt/media/image21.png" Id="Rf683d08ae9744234" /><Relationship Type="http://schemas.openxmlformats.org/officeDocument/2006/relationships/image" Target="/ppt/media/image22.png" Id="Rfa7f3510d98b4133" /><Relationship Type="http://schemas.openxmlformats.org/officeDocument/2006/relationships/image" Target="/ppt/media/image13.png" Id="R72cf469262f64473" /><Relationship Type="http://schemas.openxmlformats.org/officeDocument/2006/relationships/image" Target="/ppt/media/image12.png" Id="R1587de4770ad41c1" /><Relationship Type="http://schemas.openxmlformats.org/officeDocument/2006/relationships/image" Target="/ppt/media/image23.png" Id="R332bc8347cb74423" /><Relationship Type="http://schemas.openxmlformats.org/officeDocument/2006/relationships/notesSlide" Target="/ppt/notesSlides/notesSlide2.xml" Id="Re669800821764e1c" /><Relationship Type="http://schemas.openxmlformats.org/officeDocument/2006/relationships/slideLayout" Target="/ppt/slideLayouts/slideLayout7.xml" Id="Rb3923c001df542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19030ff4270c4620" /><Relationship Type="http://schemas.openxmlformats.org/officeDocument/2006/relationships/slideLayout" Target="/ppt/slideLayouts/slideLayout7.xml" Id="R52f357fd87dd42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4.png" Id="Rd74f470839b642c8" /><Relationship Type="http://schemas.openxmlformats.org/officeDocument/2006/relationships/image" Target="/ppt/media/image25.png" Id="R8fc8c4ca70c145b1" /><Relationship Type="http://schemas.openxmlformats.org/officeDocument/2006/relationships/image" Target="/ppt/media/image26.png" Id="R607f07c4ac994dd9" /><Relationship Type="http://schemas.openxmlformats.org/officeDocument/2006/relationships/notesSlide" Target="/ppt/notesSlides/notesSlide4.xml" Id="Re0c771c55c5b403f" /><Relationship Type="http://schemas.openxmlformats.org/officeDocument/2006/relationships/slideLayout" Target="/ppt/slideLayouts/slideLayout7.xml" Id="Rea4303d5797240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ad6c6b23632c4db1" /><Relationship Type="http://schemas.openxmlformats.org/officeDocument/2006/relationships/slideLayout" Target="/ppt/slideLayouts/slideLayout7.xml" Id="Rabbe0a318c5140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3067c7a45ae34eb0" /><Relationship Type="http://schemas.openxmlformats.org/officeDocument/2006/relationships/slideLayout" Target="/ppt/slideLayouts/slideLayout7.xml" Id="Re16d9db4979f4ff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87900" y="-139700"/>
            <a:ext cx="3987800" cy="398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0" spc="125" b="1">
                <a:solidFill>
                  <a:srgbClr val="DDE4D3"/>
                </a:solidFill>
                <a:latin typeface="Cambria"/>
                <a:cs typeface="Cambria"/>
              </a:rPr>
              <a:t>58</a:t>
            </a:r>
            <a:endParaRPr sz="260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33400" y="7493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355600" y="0"/>
                </a:moveTo>
                <a:lnTo>
                  <a:pt x="0" y="0"/>
                </a:lnTo>
                <a:lnTo>
                  <a:pt x="0" y="38100"/>
                </a:lnTo>
                <a:lnTo>
                  <a:pt x="355600" y="38100"/>
                </a:lnTo>
                <a:lnTo>
                  <a:pt x="355600" y="0"/>
                </a:lnTo>
                <a:close/>
              </a:path>
            </a:pathLst>
          </a:custGeom>
          <a:solidFill>
            <a:srgbClr val="5D7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20700" y="965200"/>
            <a:ext cx="1545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14" b="1">
                <a:solidFill>
                  <a:srgbClr val="5D7E4F"/>
                </a:solidFill>
                <a:latin typeface="Arial"/>
                <a:cs typeface="Arial"/>
              </a:rPr>
              <a:t>CASE</a:t>
            </a:r>
            <a:r>
              <a:rPr dirty="0" sz="900" spc="335" b="1">
                <a:solidFill>
                  <a:srgbClr val="5D7E4F"/>
                </a:solidFill>
                <a:latin typeface="Arial"/>
                <a:cs typeface="Arial"/>
              </a:rPr>
              <a:t> </a:t>
            </a:r>
            <a:r>
              <a:rPr dirty="0" sz="900" spc="140" b="1">
                <a:solidFill>
                  <a:srgbClr val="5D7E4F"/>
                </a:solidFill>
                <a:latin typeface="Arial"/>
                <a:cs typeface="Arial"/>
              </a:rPr>
              <a:t>STUDY</a:t>
            </a:r>
            <a:r>
              <a:rPr dirty="0" sz="900" spc="335" b="1">
                <a:solidFill>
                  <a:srgbClr val="5D7E4F"/>
                </a:solidFill>
                <a:latin typeface="Arial"/>
                <a:cs typeface="Arial"/>
              </a:rPr>
              <a:t> </a:t>
            </a:r>
            <a:r>
              <a:rPr dirty="0" sz="900" spc="125" b="1">
                <a:solidFill>
                  <a:srgbClr val="5D7E4F"/>
                </a:solidFill>
                <a:latin typeface="Arial"/>
                <a:cs typeface="Arial"/>
              </a:rPr>
              <a:t>NO.</a:t>
            </a:r>
            <a:r>
              <a:rPr dirty="0" sz="900" spc="335" b="1">
                <a:solidFill>
                  <a:srgbClr val="5D7E4F"/>
                </a:solidFill>
                <a:latin typeface="Arial"/>
                <a:cs typeface="Arial"/>
              </a:rPr>
              <a:t> </a:t>
            </a:r>
            <a:r>
              <a:rPr dirty="0" sz="900" spc="110" b="1">
                <a:solidFill>
                  <a:srgbClr val="5D7E4F"/>
                </a:solidFill>
                <a:latin typeface="Arial"/>
                <a:cs typeface="Arial"/>
              </a:rPr>
              <a:t>58 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700" y="1308100"/>
            <a:ext cx="438277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55" b="1">
                <a:solidFill>
                  <a:srgbClr val="0F213D"/>
                </a:solidFill>
                <a:latin typeface="Arial"/>
                <a:cs typeface="Arial"/>
              </a:rPr>
              <a:t>Local</a:t>
            </a:r>
            <a:r>
              <a:rPr dirty="0" sz="4600" spc="-330" b="1">
                <a:solidFill>
                  <a:srgbClr val="0F213D"/>
                </a:solidFill>
                <a:latin typeface="Arial"/>
                <a:cs typeface="Arial"/>
              </a:rPr>
              <a:t> </a:t>
            </a:r>
            <a:r>
              <a:rPr dirty="0" sz="4600" spc="-10" b="1">
                <a:solidFill>
                  <a:srgbClr val="0F213D"/>
                </a:solidFill>
                <a:latin typeface="Arial"/>
                <a:cs typeface="Arial"/>
              </a:rPr>
              <a:t>Breakfast</a:t>
            </a:r>
            <a:endParaRPr sz="4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0700" y="1943100"/>
            <a:ext cx="3905885" cy="1328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110" b="1">
                <a:solidFill>
                  <a:srgbClr val="0F213D"/>
                </a:solidFill>
                <a:latin typeface="Arial"/>
                <a:cs typeface="Arial"/>
              </a:rPr>
              <a:t>Ingredient</a:t>
            </a:r>
            <a:r>
              <a:rPr dirty="0" sz="4600" spc="-350" b="1">
                <a:solidFill>
                  <a:srgbClr val="0F213D"/>
                </a:solidFill>
                <a:latin typeface="Arial"/>
                <a:cs typeface="Arial"/>
              </a:rPr>
              <a:t> </a:t>
            </a:r>
            <a:r>
              <a:rPr dirty="0" sz="4600" spc="-25" b="1">
                <a:solidFill>
                  <a:srgbClr val="0F213D"/>
                </a:solidFill>
                <a:latin typeface="Arial"/>
                <a:cs typeface="Arial"/>
              </a:rPr>
              <a:t>Kit</a:t>
            </a:r>
            <a:endParaRPr sz="4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750" spc="120" b="1">
                <a:solidFill>
                  <a:srgbClr val="6E7277"/>
                </a:solidFill>
                <a:latin typeface="Arial"/>
                <a:cs typeface="Arial"/>
              </a:rPr>
              <a:t>TOPIC 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300" spc="-35">
                <a:solidFill>
                  <a:srgbClr val="0F213D"/>
                </a:solidFill>
                <a:latin typeface="Verdana"/>
                <a:cs typeface="Verdana"/>
              </a:rPr>
              <a:t>AgriBusiness</a:t>
            </a:r>
            <a:r>
              <a:rPr dirty="0" sz="1300" spc="-40">
                <a:solidFill>
                  <a:srgbClr val="0F213D"/>
                </a:solidFill>
                <a:latin typeface="Verdana"/>
                <a:cs typeface="Verdana"/>
              </a:rPr>
              <a:t> </a:t>
            </a:r>
            <a:r>
              <a:rPr dirty="0" sz="1300" spc="-190">
                <a:solidFill>
                  <a:srgbClr val="0F213D"/>
                </a:solidFill>
                <a:latin typeface="Verdana"/>
                <a:cs typeface="Verdana"/>
              </a:rPr>
              <a:t>–</a:t>
            </a:r>
            <a:r>
              <a:rPr dirty="0" sz="1300" spc="-35">
                <a:solidFill>
                  <a:srgbClr val="0F213D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0F213D"/>
                </a:solidFill>
                <a:latin typeface="Verdana"/>
                <a:cs typeface="Verdana"/>
              </a:rPr>
              <a:t>Value-Added</a:t>
            </a:r>
            <a:r>
              <a:rPr dirty="0" sz="1300" spc="-35">
                <a:solidFill>
                  <a:srgbClr val="0F213D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0F213D"/>
                </a:solidFill>
                <a:latin typeface="Verdana"/>
                <a:cs typeface="Verdana"/>
              </a:rPr>
              <a:t>Product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33400" y="3530600"/>
            <a:ext cx="2006600" cy="0"/>
          </a:xfrm>
          <a:custGeom>
            <a:avLst/>
            <a:gdLst/>
            <a:ahLst/>
            <a:cxnLst/>
            <a:rect l="l" t="t" r="r" b="b"/>
            <a:pathLst>
              <a:path w="2006600" h="0">
                <a:moveTo>
                  <a:pt x="0" y="0"/>
                </a:moveTo>
                <a:lnTo>
                  <a:pt x="2006600" y="0"/>
                </a:lnTo>
              </a:path>
            </a:pathLst>
          </a:custGeom>
          <a:ln w="7620">
            <a:solidFill>
              <a:srgbClr val="D6D1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20700" y="3663420"/>
            <a:ext cx="1688464" cy="4591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750" spc="120" b="1">
                <a:solidFill>
                  <a:srgbClr val="6E7277"/>
                </a:solidFill>
                <a:latin typeface="Arial"/>
                <a:cs typeface="Arial"/>
              </a:rPr>
              <a:t>PRESENTED</a:t>
            </a:r>
            <a:r>
              <a:rPr dirty="0" sz="750" spc="330" b="1">
                <a:solidFill>
                  <a:srgbClr val="6E7277"/>
                </a:solidFill>
                <a:latin typeface="Arial"/>
                <a:cs typeface="Arial"/>
              </a:rPr>
              <a:t> </a:t>
            </a:r>
            <a:r>
              <a:rPr dirty="0" sz="750" spc="-25" b="1">
                <a:solidFill>
                  <a:srgbClr val="6E7277"/>
                </a:solidFill>
                <a:latin typeface="Arial"/>
                <a:cs typeface="Arial"/>
              </a:rPr>
              <a:t>BY</a:t>
            </a:r>
            <a:r>
              <a:rPr dirty="0" sz="750" b="1">
                <a:solidFill>
                  <a:srgbClr val="6E7277"/>
                </a:solidFill>
                <a:latin typeface="Arial"/>
                <a:cs typeface="Arial"/>
              </a:rPr>
              <a:t> 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800" b="1">
                <a:solidFill>
                  <a:srgbClr val="0F213D"/>
                </a:solidFill>
                <a:latin typeface="Arial"/>
                <a:cs typeface="Arial"/>
              </a:rPr>
              <a:t>Lokendra</a:t>
            </a:r>
            <a:r>
              <a:rPr dirty="0" sz="1800" spc="-145" b="1">
                <a:solidFill>
                  <a:srgbClr val="0F213D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F213D"/>
                </a:solidFill>
                <a:latin typeface="Arial"/>
                <a:cs typeface="Arial"/>
              </a:rPr>
              <a:t>Joshi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33400" y="4518659"/>
            <a:ext cx="8077200" cy="284480"/>
            <a:chOff x="533400" y="4518659"/>
            <a:chExt cx="8077200" cy="284480"/>
          </a:xfrm>
        </p:grpSpPr>
        <p:sp>
          <p:nvSpPr>
            <p:cNvPr id="10" name="object 10" descr=""/>
            <p:cNvSpPr/>
            <p:nvPr/>
          </p:nvSpPr>
          <p:spPr>
            <a:xfrm>
              <a:off x="533400" y="4660899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 h="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15240">
              <a:solidFill>
                <a:srgbClr val="D6D1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1022c5517c284997" cstate="print"/>
            <a:stretch>
              <a:fillRect/>
            </a:stretch>
          </p:blipFill>
          <p:spPr>
            <a:xfrm>
              <a:off x="711200" y="4610099"/>
              <a:ext cx="101600" cy="1016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18568f03c2854a4f" cstate="print"/>
            <a:stretch>
              <a:fillRect/>
            </a:stretch>
          </p:blipFill>
          <p:spPr>
            <a:xfrm>
              <a:off x="1965960" y="4594859"/>
              <a:ext cx="132079" cy="13208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332a7c1c9a4f4cd8" cstate="print"/>
            <a:stretch>
              <a:fillRect/>
            </a:stretch>
          </p:blipFill>
          <p:spPr>
            <a:xfrm>
              <a:off x="3220720" y="4579619"/>
              <a:ext cx="162559" cy="16255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2d27840323974adb" cstate="print"/>
            <a:stretch>
              <a:fillRect/>
            </a:stretch>
          </p:blipFill>
          <p:spPr>
            <a:xfrm>
              <a:off x="4475479" y="4564379"/>
              <a:ext cx="193040" cy="19304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972d9c92c7dd4aaa" cstate="print"/>
            <a:stretch>
              <a:fillRect/>
            </a:stretch>
          </p:blipFill>
          <p:spPr>
            <a:xfrm>
              <a:off x="6985000" y="4533899"/>
              <a:ext cx="254000" cy="2540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3586aac5df214c7d" cstate="print"/>
            <a:stretch>
              <a:fillRect/>
            </a:stretch>
          </p:blipFill>
          <p:spPr>
            <a:xfrm>
              <a:off x="5730240" y="4549139"/>
              <a:ext cx="223520" cy="22351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239759" y="4518659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79" h="284479">
                  <a:moveTo>
                    <a:pt x="142240" y="0"/>
                  </a:moveTo>
                  <a:lnTo>
                    <a:pt x="97281" y="7251"/>
                  </a:lnTo>
                  <a:lnTo>
                    <a:pt x="58234" y="27444"/>
                  </a:lnTo>
                  <a:lnTo>
                    <a:pt x="27444" y="58234"/>
                  </a:lnTo>
                  <a:lnTo>
                    <a:pt x="7251" y="97281"/>
                  </a:lnTo>
                  <a:lnTo>
                    <a:pt x="0" y="142239"/>
                  </a:lnTo>
                  <a:lnTo>
                    <a:pt x="7251" y="187198"/>
                  </a:lnTo>
                  <a:lnTo>
                    <a:pt x="27444" y="226245"/>
                  </a:lnTo>
                  <a:lnTo>
                    <a:pt x="58234" y="257035"/>
                  </a:lnTo>
                  <a:lnTo>
                    <a:pt x="97281" y="277228"/>
                  </a:lnTo>
                  <a:lnTo>
                    <a:pt x="142240" y="284479"/>
                  </a:lnTo>
                  <a:lnTo>
                    <a:pt x="187198" y="277228"/>
                  </a:lnTo>
                  <a:lnTo>
                    <a:pt x="226245" y="257035"/>
                  </a:lnTo>
                  <a:lnTo>
                    <a:pt x="257035" y="226245"/>
                  </a:lnTo>
                  <a:lnTo>
                    <a:pt x="277228" y="187198"/>
                  </a:lnTo>
                  <a:lnTo>
                    <a:pt x="284480" y="142239"/>
                  </a:lnTo>
                  <a:lnTo>
                    <a:pt x="277228" y="97281"/>
                  </a:lnTo>
                  <a:lnTo>
                    <a:pt x="257035" y="58234"/>
                  </a:lnTo>
                  <a:lnTo>
                    <a:pt x="226245" y="27444"/>
                  </a:lnTo>
                  <a:lnTo>
                    <a:pt x="187198" y="7251"/>
                  </a:lnTo>
                  <a:lnTo>
                    <a:pt x="142240" y="0"/>
                  </a:lnTo>
                  <a:close/>
                </a:path>
              </a:pathLst>
            </a:custGeom>
            <a:solidFill>
              <a:srgbClr val="0F213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REAL COST OF BREAKFAST IS THE</a:t>
            </a:r>
            <a:endParaRPr lang="en-US" sz="900" dirty="0"/>
          </a:p>
          <a:p>
            <a:pPr indent="0" marL="0">
              <a:buNone/>
            </a:pPr>
            <a:r>
              <a:rPr lang="en-US" sz="460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FRICTION</a:t>
            </a:r>
            <a:endParaRPr lang="en-US" sz="9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around cooking.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715000" y="457200"/>
            <a:ext cx="0" cy="1234440"/>
          </a:xfrm>
          <a:prstGeom prst="line">
            <a:avLst/>
          </a:prstGeom>
          <a:noFill/>
          <a:ln w="9525">
            <a:solidFill>
              <a:srgbClr val="D6D1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97880" y="411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 GEOGRAPHY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897880" y="594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KHARGHAR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960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Educational institutions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Residential clusters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Young consumers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406640" y="1188720"/>
            <a:ext cx="27432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772400" y="594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30-DAY VALIDATION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960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B2B2B"/>
                </a:solidFill>
              </a:rPr>
              <a:t>PG density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B2B2B"/>
                </a:solidFill>
              </a:rPr>
              <a:t>Demand concentration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B2B2B"/>
                </a:solidFill>
              </a:rPr>
              <a:t>Distribution access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2024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EFFORT BUILDS AT EVERY STEP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19050">
            <a:solidFill>
              <a:srgbClr val="D6D1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a48e843e72034c7e"/>
          <a:stretch>
            <a:fillRect/>
          </a:stretch>
        </p:blipFill>
        <p:spPr>
          <a:xfrm>
            <a:off x="754380" y="258318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2004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DECIDE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851660" y="2446020"/>
            <a:ext cx="502920" cy="502920"/>
          </a:xfrm>
          <a:prstGeom prst="ellipse">
            <a:avLst/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536cde0a2bb1459e"/>
          <a:stretch>
            <a:fillRect/>
          </a:stretch>
        </p:blipFill>
        <p:spPr>
          <a:xfrm>
            <a:off x="1977390" y="25717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SHOP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063240" y="2423160"/>
            <a:ext cx="548640" cy="548640"/>
          </a:xfrm>
          <a:prstGeom prst="ellipse">
            <a:avLst/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f94e51a8cedf4dca"/>
          <a:stretch>
            <a:fillRect/>
          </a:stretch>
        </p:blipFill>
        <p:spPr>
          <a:xfrm>
            <a:off x="3200400" y="25603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78892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STORE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274820" y="2400300"/>
            <a:ext cx="594360" cy="594360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81d27ba90a7a420e"/>
          <a:stretch>
            <a:fillRect/>
          </a:stretch>
        </p:blipFill>
        <p:spPr>
          <a:xfrm>
            <a:off x="4423410" y="254889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02336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486400" y="2377440"/>
            <a:ext cx="640080" cy="640080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f3778ece5dc14db6"/>
          <a:stretch>
            <a:fillRect/>
          </a:stretch>
        </p:blipFill>
        <p:spPr>
          <a:xfrm>
            <a:off x="5646420" y="25374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6697980" y="2354580"/>
            <a:ext cx="685800" cy="68580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6be38b58c16f4613"/>
          <a:stretch>
            <a:fillRect/>
          </a:stretch>
        </p:blipFill>
        <p:spPr>
          <a:xfrm>
            <a:off x="6869430" y="2526030"/>
            <a:ext cx="342900" cy="3429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9224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COOK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7909560" y="2331720"/>
            <a:ext cx="731520" cy="73152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79b4ce9c949b4fc7"/>
          <a:stretch>
            <a:fillRect/>
          </a:stretch>
        </p:blipFill>
        <p:spPr>
          <a:xfrm>
            <a:off x="8092440" y="251460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72668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</a:t>
            </a:r>
            <a:endParaRPr lang="en-US" sz="80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36118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STUDENTS AND YOUNG PROFESSIONALS DO TODAY</a:t>
            </a:r>
            <a:endParaRPr lang="en-US" sz="700" dirty="0"/>
          </a:p>
        </p:txBody>
      </p:sp>
      <p:sp>
        <p:nvSpPr>
          <p:cNvPr id="34" name="Shape 25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FAF8F4"/>
          </a:solidFill>
          <a:ln w="12700">
            <a:solidFill>
              <a:srgbClr val="D6D1C6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68ce9e922e9e4032"/>
          <a:stretch>
            <a:fillRect/>
          </a:stretch>
        </p:blipFill>
        <p:spPr>
          <a:xfrm>
            <a:off x="548640" y="4023360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14400" y="39776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MESS</a:t>
            </a:r>
            <a:endParaRPr lang="en-US" sz="800" dirty="0"/>
          </a:p>
        </p:txBody>
      </p:sp>
      <p:sp>
        <p:nvSpPr>
          <p:cNvPr id="37" name="Text 27"/>
          <p:cNvSpPr txBox="1"/>
          <p:nvPr/>
        </p:nvSpPr>
        <p:spPr>
          <a:xfrm>
            <a:off x="914400" y="4142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Fixed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2103120" y="3931920"/>
            <a:ext cx="365760" cy="365760"/>
          </a:xfrm>
          <a:prstGeom prst="ellipse">
            <a:avLst/>
          </a:prstGeom>
          <a:solidFill>
            <a:srgbClr val="FAF8F4"/>
          </a:solidFill>
          <a:ln w="12700">
            <a:solidFill>
              <a:srgbClr val="D6D1C6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8fe76b3ffbb04553"/>
          <a:stretch>
            <a:fillRect/>
          </a:stretch>
        </p:blipFill>
        <p:spPr>
          <a:xfrm>
            <a:off x="2194560" y="4023360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2560320" y="39776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OUTSIDE</a:t>
            </a:r>
            <a:endParaRPr lang="en-US" sz="800" dirty="0"/>
          </a:p>
        </p:txBody>
      </p:sp>
      <p:sp>
        <p:nvSpPr>
          <p:cNvPr id="41" name="Text 30"/>
          <p:cNvSpPr txBox="1"/>
          <p:nvPr/>
        </p:nvSpPr>
        <p:spPr>
          <a:xfrm>
            <a:off x="2560320" y="4142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Bought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1993392" y="3931920"/>
            <a:ext cx="0" cy="365760"/>
          </a:xfrm>
          <a:prstGeom prst="line">
            <a:avLst/>
          </a:prstGeom>
          <a:noFill/>
          <a:ln w="6350">
            <a:solidFill>
              <a:srgbClr val="D6D1C6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3749040" y="3931920"/>
            <a:ext cx="365760" cy="365760"/>
          </a:xfrm>
          <a:prstGeom prst="ellipse">
            <a:avLst/>
          </a:prstGeom>
          <a:solidFill>
            <a:srgbClr val="FAF8F4"/>
          </a:solidFill>
          <a:ln w="12700">
            <a:solidFill>
              <a:srgbClr val="D6D1C6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cda28613042d4721"/>
          <a:stretch>
            <a:fillRect/>
          </a:stretch>
        </p:blipFill>
        <p:spPr>
          <a:xfrm>
            <a:off x="3840480" y="4023360"/>
            <a:ext cx="182880" cy="18288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4206240" y="39776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SELF-COOK</a:t>
            </a:r>
            <a:endParaRPr lang="en-US" sz="800" dirty="0"/>
          </a:p>
        </p:txBody>
      </p:sp>
      <p:sp>
        <p:nvSpPr>
          <p:cNvPr id="46" name="Text 34"/>
          <p:cNvSpPr txBox="1"/>
          <p:nvPr/>
        </p:nvSpPr>
        <p:spPr>
          <a:xfrm>
            <a:off x="4206240" y="4142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Effortful</a:t>
            </a:r>
            <a:endParaRPr lang="en-US" sz="800" dirty="0"/>
          </a:p>
        </p:txBody>
      </p:sp>
      <p:sp>
        <p:nvSpPr>
          <p:cNvPr id="47" name="Shape 35"/>
          <p:cNvSpPr/>
          <p:nvPr/>
        </p:nvSpPr>
        <p:spPr>
          <a:xfrm>
            <a:off x="3639312" y="3931920"/>
            <a:ext cx="0" cy="365760"/>
          </a:xfrm>
          <a:prstGeom prst="line">
            <a:avLst/>
          </a:prstGeom>
          <a:noFill/>
          <a:ln w="6350">
            <a:solidFill>
              <a:srgbClr val="D6D1C6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5394960" y="3931920"/>
            <a:ext cx="365760" cy="365760"/>
          </a:xfrm>
          <a:prstGeom prst="ellipse">
            <a:avLst/>
          </a:prstGeom>
          <a:solidFill>
            <a:srgbClr val="FAF8F4"/>
          </a:solidFill>
          <a:ln w="12700">
            <a:solidFill>
              <a:srgbClr val="D6D1C6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f5f8b8e5b5654c43"/>
          <a:stretch>
            <a:fillRect/>
          </a:stretch>
        </p:blipFill>
        <p:spPr>
          <a:xfrm>
            <a:off x="5486400" y="4023360"/>
            <a:ext cx="182880" cy="18288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5852160" y="39776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INSTANT</a:t>
            </a:r>
            <a:endParaRPr lang="en-US" sz="800" dirty="0"/>
          </a:p>
        </p:txBody>
      </p:sp>
      <p:sp>
        <p:nvSpPr>
          <p:cNvPr id="51" name="Text 38"/>
          <p:cNvSpPr txBox="1"/>
          <p:nvPr/>
        </p:nvSpPr>
        <p:spPr>
          <a:xfrm>
            <a:off x="5852160" y="4142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Packaged</a:t>
            </a:r>
            <a:endParaRPr lang="en-US" sz="800" dirty="0"/>
          </a:p>
        </p:txBody>
      </p:sp>
      <p:sp>
        <p:nvSpPr>
          <p:cNvPr id="52" name="Shape 39"/>
          <p:cNvSpPr/>
          <p:nvPr/>
        </p:nvSpPr>
        <p:spPr>
          <a:xfrm>
            <a:off x="5285232" y="3931920"/>
            <a:ext cx="0" cy="365760"/>
          </a:xfrm>
          <a:prstGeom prst="line">
            <a:avLst/>
          </a:prstGeom>
          <a:noFill/>
          <a:ln w="6350">
            <a:solidFill>
              <a:srgbClr val="D6D1C6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7040880" y="3931920"/>
            <a:ext cx="365760" cy="365760"/>
          </a:xfrm>
          <a:prstGeom prst="ellipse">
            <a:avLst/>
          </a:prstGeom>
          <a:solidFill>
            <a:srgbClr val="FAF8F4"/>
          </a:solidFill>
          <a:ln w="12700">
            <a:solidFill>
              <a:srgbClr val="D6D1C6"/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99944cde8a194ec1"/>
          <a:stretch>
            <a:fillRect/>
          </a:stretch>
        </p:blipFill>
        <p:spPr>
          <a:xfrm>
            <a:off x="7132320" y="4023360"/>
            <a:ext cx="182880" cy="18288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7498080" y="39776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SKIP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7498080" y="4142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Nothing</a:t>
            </a:r>
            <a:endParaRPr lang="en-US" sz="800" dirty="0"/>
          </a:p>
        </p:txBody>
      </p:sp>
      <p:sp>
        <p:nvSpPr>
          <p:cNvPr id="57" name="Shape 43"/>
          <p:cNvSpPr/>
          <p:nvPr/>
        </p:nvSpPr>
        <p:spPr>
          <a:xfrm>
            <a:off x="6931152" y="3931920"/>
            <a:ext cx="0" cy="365760"/>
          </a:xfrm>
          <a:prstGeom prst="line">
            <a:avLst/>
          </a:prstGeom>
          <a:noFill/>
          <a:ln w="6350">
            <a:solidFill>
              <a:srgbClr val="D6D1C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 TARGET CUSTOMER &amp; PRODUCT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narrow: PG residents with breakfast friction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Self-cooked without the usual work of self-cooking.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75488" y="1508760"/>
            <a:ext cx="365760" cy="365760"/>
          </a:xfrm>
          <a:prstGeom prst="ellipse">
            <a:avLst/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457fdc61eb1945d5"/>
          <a:stretch>
            <a:fillRect/>
          </a:stretch>
        </p:blipFill>
        <p:spPr>
          <a:xfrm>
            <a:off x="566928" y="16002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1554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College students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7556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PG living · hectic mornings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58368" y="1920240"/>
            <a:ext cx="0" cy="27432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5720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BREAKFAST FRICTION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2450592"/>
            <a:ext cx="0" cy="201168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8529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Affordable + convenient + self-prepared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2004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93776" y="3447288"/>
            <a:ext cx="329184" cy="329184"/>
          </a:xfrm>
          <a:prstGeom prst="ellipse">
            <a:avLst/>
          </a:prstGeom>
          <a:solidFill>
            <a:srgbClr val="EDE6D8"/>
          </a:solidFill>
          <a:ln w="12700">
            <a:solidFill>
              <a:srgbClr val="EDE6D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9f717d436e4d42bf"/>
          <a:stretch>
            <a:fillRect/>
          </a:stretch>
        </p:blipFill>
        <p:spPr>
          <a:xfrm>
            <a:off x="576072" y="3529584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0120" y="3511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professionals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36941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PG / co-living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840480" y="1280160"/>
            <a:ext cx="1600200" cy="2194560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840480" y="1280160"/>
            <a:ext cx="1600200" cy="91440"/>
          </a:xfrm>
          <a:prstGeom prst="rect">
            <a:avLst/>
          </a:prstGeom>
          <a:solidFill>
            <a:srgbClr val="0A1730"/>
          </a:solidFill>
          <a:ln w="12700">
            <a:solidFill>
              <a:srgbClr val="0A173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40480" y="3383280"/>
            <a:ext cx="1600200" cy="91440"/>
          </a:xfrm>
          <a:prstGeom prst="rect">
            <a:avLst/>
          </a:prstGeom>
          <a:solidFill>
            <a:srgbClr val="0A1730"/>
          </a:solidFill>
          <a:ln w="12700">
            <a:solidFill>
              <a:srgbClr val="0A173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840480" y="14813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DDE5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READY-TO-COOK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3977640" y="1719072"/>
            <a:ext cx="1325880" cy="123444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f683d08ae9744234"/>
          <a:stretch>
            <a:fillRect/>
          </a:stretch>
        </p:blipFill>
        <p:spPr>
          <a:xfrm>
            <a:off x="4485132" y="1837944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977640" y="22128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MILLET UPMA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3977640" y="243230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7378"/>
                </a:solidFill>
              </a:rPr>
              <a:t>Ready-to-Cook Breakfast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4224528" y="2633472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224528" y="2633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SERVINGS</a:t>
            </a:r>
            <a:endParaRPr lang="en-US" sz="650" dirty="0"/>
          </a:p>
        </p:txBody>
      </p:sp>
      <p:sp>
        <p:nvSpPr>
          <p:cNvPr id="30" name="Text 25"/>
          <p:cNvSpPr txBox="1"/>
          <p:nvPr/>
        </p:nvSpPr>
        <p:spPr>
          <a:xfrm>
            <a:off x="3840480" y="306324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DDE5D3"/>
                </a:solidFill>
              </a:rPr>
              <a:t>Open → Add Water → Cook → Eat</a:t>
            </a:r>
            <a:endParaRPr lang="en-US" sz="600" dirty="0"/>
          </a:p>
        </p:txBody>
      </p:sp>
      <p:sp>
        <p:nvSpPr>
          <p:cNvPr id="31" name="Shape 26"/>
          <p:cNvSpPr/>
          <p:nvPr/>
        </p:nvSpPr>
        <p:spPr>
          <a:xfrm>
            <a:off x="5111496" y="1133856"/>
            <a:ext cx="566928" cy="56692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12064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₹149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943600" y="1280160"/>
            <a:ext cx="0" cy="2148840"/>
          </a:xfrm>
          <a:prstGeom prst="line">
            <a:avLst/>
          </a:prstGeom>
          <a:noFill/>
          <a:ln w="6350">
            <a:solidFill>
              <a:srgbClr val="D6D1C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21792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E7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≤10</a:t>
            </a:r>
            <a:endParaRPr lang="en-US" sz="4400" dirty="0"/>
          </a:p>
        </p:txBody>
      </p:sp>
      <p:sp>
        <p:nvSpPr>
          <p:cNvPr id="35" name="Text 30"/>
          <p:cNvSpPr txBox="1"/>
          <p:nvPr/>
        </p:nvSpPr>
        <p:spPr>
          <a:xfrm>
            <a:off x="6217920" y="189280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MINUTES PREP · TARGET</a:t>
            </a:r>
            <a:endParaRPr lang="en-US" sz="700" dirty="0"/>
          </a:p>
        </p:txBody>
      </p:sp>
      <p:sp>
        <p:nvSpPr>
          <p:cNvPr id="36" name="Text 31"/>
          <p:cNvSpPr txBox="1"/>
          <p:nvPr/>
        </p:nvSpPr>
        <p:spPr>
          <a:xfrm>
            <a:off x="621792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1–2</a:t>
            </a:r>
            <a:endParaRPr lang="en-US" sz="440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289864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VESSELS · TARGET</a:t>
            </a:r>
            <a:endParaRPr lang="en-US" sz="700" dirty="0"/>
          </a:p>
        </p:txBody>
      </p:sp>
      <p:sp>
        <p:nvSpPr>
          <p:cNvPr id="38" name="Text 33"/>
          <p:cNvSpPr txBox="1"/>
          <p:nvPr/>
        </p:nvSpPr>
        <p:spPr>
          <a:xfrm>
            <a:off x="6217920" y="32004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F7378"/>
                </a:solidFill>
              </a:rPr>
              <a:t>Pilot hypotheses — to be validated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457200" y="3858768"/>
            <a:ext cx="512064" cy="512064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fa7f3510d98b4133"/>
          <a:stretch>
            <a:fillRect/>
          </a:stretch>
        </p:blipFill>
        <p:spPr>
          <a:xfrm>
            <a:off x="594360" y="3995928"/>
            <a:ext cx="237744" cy="23774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097280" y="3913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" y="4178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2148840" y="4114800"/>
            <a:ext cx="3200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2606040" y="3858768"/>
            <a:ext cx="512064" cy="512064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72cf469262f64473"/>
          <a:stretch>
            <a:fillRect/>
          </a:stretch>
        </p:blipFill>
        <p:spPr>
          <a:xfrm>
            <a:off x="2743200" y="3995928"/>
            <a:ext cx="237744" cy="23774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3246120" y="3913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47" name="Text 40"/>
          <p:cNvSpPr txBox="1"/>
          <p:nvPr/>
        </p:nvSpPr>
        <p:spPr>
          <a:xfrm>
            <a:off x="3246120" y="4178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WATER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4297680" y="4114800"/>
            <a:ext cx="3200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4754880" y="3858768"/>
            <a:ext cx="512064" cy="512064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1587de4770ad41c1"/>
          <a:stretch>
            <a:fillRect/>
          </a:stretch>
        </p:blipFill>
        <p:spPr>
          <a:xfrm>
            <a:off x="4892040" y="3995928"/>
            <a:ext cx="237744" cy="237744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394960" y="3913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52" name="Text 44"/>
          <p:cNvSpPr txBox="1"/>
          <p:nvPr/>
        </p:nvSpPr>
        <p:spPr>
          <a:xfrm>
            <a:off x="5394960" y="4178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COOK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6446520" y="4114800"/>
            <a:ext cx="3200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6903720" y="3858768"/>
            <a:ext cx="512064" cy="512064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332bc8347cb74423"/>
          <a:stretch>
            <a:fillRect/>
          </a:stretch>
        </p:blipFill>
        <p:spPr>
          <a:xfrm>
            <a:off x="7040880" y="3995928"/>
            <a:ext cx="237744" cy="237744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7543800" y="3913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7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543800" y="4178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 VALUE PROPOSITION &amp; COMPETITIVE POSITION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Position between instant convenience and self-cooking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0" cy="219456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14400" y="3246120"/>
            <a:ext cx="42062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4206240" cy="0"/>
          </a:xfrm>
          <a:prstGeom prst="line">
            <a:avLst/>
          </a:prstGeom>
          <a:noFill/>
          <a:ln w="6350">
            <a:solidFill>
              <a:srgbClr val="D6D1C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017520" y="1051560"/>
            <a:ext cx="0" cy="2194560"/>
          </a:xfrm>
          <a:prstGeom prst="line">
            <a:avLst/>
          </a:prstGeom>
          <a:noFill/>
          <a:ln w="6350">
            <a:solidFill>
              <a:srgbClr val="D6D1C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914400" y="1051560"/>
            <a:ext cx="0" cy="219456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914400" y="33192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 PREPARATION EFFORT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3192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PREPARATION EFFORT →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 rot="16200000">
            <a:off x="-73152" y="15087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CONTROL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 rot="16200000">
            <a:off x="-73152" y="26060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 CONTROL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77494" y="876910"/>
            <a:ext cx="1051560" cy="1051560"/>
          </a:xfrm>
          <a:prstGeom prst="ellipse">
            <a:avLst/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3234" y="1082650"/>
            <a:ext cx="640080" cy="640080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3234" y="131125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189074" y="132953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PROPOSED KIT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0354" y="2900477"/>
            <a:ext cx="164592" cy="164592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8098" y="2909621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OUTSIDE BREAKFAST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73352" y="2571293"/>
            <a:ext cx="164592" cy="164592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11096" y="2580437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MESS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73352" y="2066544"/>
            <a:ext cx="164592" cy="164592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11096" y="20756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INSTANT FOOD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33595" y="1232611"/>
            <a:ext cx="164592" cy="164592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98571" y="1241755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SELF-COOKING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1051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CONVENIENCE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1307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HIGH CONTROL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15636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LOW PREP EFFORT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2011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Instant-food convenience with a </a:t>
            </a:r>
            <a:pPr indent="0" marL="0">
              <a:buNone/>
            </a:pPr>
            <a:r>
              <a:rPr lang="en-US" sz="200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self-prepared experience.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6758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SELF-COOKING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0" y="3749040"/>
            <a:ext cx="7040880" cy="0"/>
          </a:xfrm>
          <a:prstGeom prst="line">
            <a:avLst/>
          </a:prstGeom>
          <a:noFill/>
          <a:ln w="1905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764792" y="3685032"/>
            <a:ext cx="128016" cy="128016"/>
          </a:xfrm>
          <a:prstGeom prst="ellipse">
            <a:avLst/>
          </a:prstGeom>
          <a:solidFill>
            <a:srgbClr val="6F7378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34440" y="38587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Planning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81528" y="3685032"/>
            <a:ext cx="128016" cy="128016"/>
          </a:xfrm>
          <a:prstGeom prst="ellipse">
            <a:avLst/>
          </a:prstGeom>
          <a:solidFill>
            <a:srgbClr val="6F7378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51176" y="38587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Shopping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98264" y="3685032"/>
            <a:ext cx="128016" cy="128016"/>
          </a:xfrm>
          <a:prstGeom prst="ellipse">
            <a:avLst/>
          </a:prstGeom>
          <a:solidFill>
            <a:srgbClr val="6F7378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67912" y="38587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Measuring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15000" y="3685032"/>
            <a:ext cx="128016" cy="128016"/>
          </a:xfrm>
          <a:prstGeom prst="ellipse">
            <a:avLst/>
          </a:prstGeom>
          <a:solidFill>
            <a:srgbClr val="6F7378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84648" y="38587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Preparing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31736" y="3685032"/>
            <a:ext cx="128016" cy="128016"/>
          </a:xfrm>
          <a:prstGeom prst="ellipse">
            <a:avLst/>
          </a:prstGeom>
          <a:solidFill>
            <a:srgbClr val="6F7378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01384" y="38587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Cooking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348472" y="3685032"/>
            <a:ext cx="128016" cy="128016"/>
          </a:xfrm>
          <a:prstGeom prst="ellipse">
            <a:avLst/>
          </a:prstGeom>
          <a:solidFill>
            <a:srgbClr val="6F7378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38587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378"/>
                </a:solidFill>
              </a:rPr>
              <a:t>Cleaning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2702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READY-TO-COOK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28800" y="4343400"/>
            <a:ext cx="4407408" cy="0"/>
          </a:xfrm>
          <a:prstGeom prst="line">
            <a:avLst/>
          </a:prstGeom>
          <a:noFill/>
          <a:ln w="19050">
            <a:solidFill>
              <a:srgbClr val="5E7F4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4792" y="4279392"/>
            <a:ext cx="128016" cy="128016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34440" y="44531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23E"/>
                </a:solidFill>
              </a:rPr>
              <a:t>Open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81528" y="4279392"/>
            <a:ext cx="128016" cy="128016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51176" y="44531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23E"/>
                </a:solidFill>
              </a:rPr>
              <a:t>Add Water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98264" y="4279392"/>
            <a:ext cx="128016" cy="128016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67912" y="44531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23E"/>
                </a:solidFill>
              </a:rPr>
              <a:t>Cook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15000" y="4279392"/>
            <a:ext cx="128016" cy="128016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84648" y="44531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23E"/>
                </a:solidFill>
              </a:rPr>
              <a:t>Eat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 GTM STRATEGY &amp; CUSTOMER JOURNEY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 the first customer through experience, then build habit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64031" y="1498558"/>
            <a:ext cx="294881" cy="142007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087654" y="2052795"/>
            <a:ext cx="72830" cy="319088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3839093" y="2885924"/>
            <a:ext cx="204064" cy="255888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036753" y="3370583"/>
            <a:ext cx="327294" cy="0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2357643" y="2885924"/>
            <a:ext cx="204064" cy="255888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240316" y="2052795"/>
            <a:ext cx="72830" cy="319088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641888" y="1498558"/>
            <a:ext cx="294881" cy="142007"/>
          </a:xfrm>
          <a:prstGeom prst="line">
            <a:avLst/>
          </a:prstGeom>
          <a:noFill/>
          <a:ln w="15875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965960"/>
            <a:ext cx="914400" cy="91440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331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90088" y="1161288"/>
            <a:ext cx="420624" cy="42062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088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3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868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Awareness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12231" y="1557211"/>
            <a:ext cx="420624" cy="420624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12231" y="155721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51727" y="163036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Experiential Sampling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15283" y="2446842"/>
            <a:ext cx="420624" cy="42062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15283" y="24468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3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4779" y="251999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Purchase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46343" y="3160271"/>
            <a:ext cx="420624" cy="420624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6343" y="316027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85839" y="323342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Breakfast Week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33833" y="3160271"/>
            <a:ext cx="420624" cy="42062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33833" y="316027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3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34801" y="323342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64893" y="2446842"/>
            <a:ext cx="420624" cy="420624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64893" y="24468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5861" y="251999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08D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/ Community Bulk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67945" y="1557211"/>
            <a:ext cx="420624" cy="42062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6F73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67945" y="155721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3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8913" y="163036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Referral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61888" y="1024128"/>
            <a:ext cx="420624" cy="420624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d74f470839b642c8"/>
          <a:stretch>
            <a:fillRect/>
          </a:stretch>
        </p:blipFill>
        <p:spPr>
          <a:xfrm>
            <a:off x="6071616" y="1133856"/>
            <a:ext cx="201168" cy="20116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6537960" y="1005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EXPERIENCE · STEP 2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6537960" y="1225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PGs · Colleges · Corporate events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Taste + speed + simplicity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961888" y="2029968"/>
            <a:ext cx="420624" cy="420624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8fc8c4ca70c145b1"/>
          <a:stretch>
            <a:fillRect/>
          </a:stretch>
        </p:blipFill>
        <p:spPr>
          <a:xfrm>
            <a:off x="6071616" y="2139696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6537960" y="20116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HABIT · STEP 4</a:t>
            </a:r>
            <a:endParaRPr lang="en-US" sz="850" dirty="0"/>
          </a:p>
        </p:txBody>
      </p:sp>
      <p:sp>
        <p:nvSpPr>
          <p:cNvPr id="41" name="Text 37"/>
          <p:cNvSpPr txBox="1"/>
          <p:nvPr/>
        </p:nvSpPr>
        <p:spPr>
          <a:xfrm>
            <a:off x="6537960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Breakfast Week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Multi-kit bundles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5961888" y="3035808"/>
            <a:ext cx="420624" cy="420624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607f07c4ac994dd9"/>
          <a:stretch>
            <a:fillRect/>
          </a:stretch>
        </p:blipFill>
        <p:spPr>
          <a:xfrm>
            <a:off x="6071616" y="3145536"/>
            <a:ext cx="201168" cy="201168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6537960" y="3017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08D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DISTRIBUTION · STEP 6</a:t>
            </a:r>
            <a:endParaRPr lang="en-US" sz="850" dirty="0"/>
          </a:p>
        </p:txBody>
      </p:sp>
      <p:sp>
        <p:nvSpPr>
          <p:cNvPr id="45" name="Text 40"/>
          <p:cNvSpPr txBox="1"/>
          <p:nvPr/>
        </p:nvSpPr>
        <p:spPr>
          <a:xfrm>
            <a:off x="6537960" y="32369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PG bulk · Pickup points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B2B2B"/>
                </a:solidFill>
              </a:rPr>
              <a:t>Selective delivery · future quick-commerce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457200" y="4041648"/>
            <a:ext cx="8229600" cy="640080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85800" y="41330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DE5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STRATEGIC PRINCIPLE</a:t>
            </a:r>
            <a:endParaRPr lang="en-US" sz="700" dirty="0"/>
          </a:p>
        </p:txBody>
      </p:sp>
      <p:sp>
        <p:nvSpPr>
          <p:cNvPr id="48" name="Text 43"/>
          <p:cNvSpPr txBox="1"/>
          <p:nvPr/>
        </p:nvSpPr>
        <p:spPr>
          <a:xfrm>
            <a:off x="685800" y="4297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Concentrate demand before expanding distribution.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 BUSINESS MODEL &amp; UNIT ECONOMICS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Affordable convenience with positive unit contribution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73576"/>
            <a:ext cx="960120" cy="1743944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078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₹149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0906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SELLING PRICE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194560" y="1273576"/>
            <a:ext cx="960120" cy="959754"/>
          </a:xfrm>
          <a:prstGeom prst="rect">
            <a:avLst/>
          </a:prstGeom>
          <a:solidFill>
            <a:srgbClr val="8B8F94"/>
          </a:solidFill>
          <a:ln w="12700">
            <a:solidFill>
              <a:srgbClr val="8B8F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9078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−1₹82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0906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ASSEMBLY + PACKAGING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749040" y="2233331"/>
            <a:ext cx="960120" cy="784189"/>
          </a:xfrm>
          <a:prstGeom prst="rect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67571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906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CONTRIBUTION / KIT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480560" cy="0"/>
          </a:xfrm>
          <a:prstGeom prst="line">
            <a:avLst/>
          </a:prstGeom>
          <a:noFill/>
          <a:ln w="9525">
            <a:solidFill>
              <a:srgbClr val="6F73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1273576"/>
            <a:ext cx="594360" cy="0"/>
          </a:xfrm>
          <a:prstGeom prst="line">
            <a:avLst/>
          </a:prstGeom>
          <a:noFill/>
          <a:ln w="9525">
            <a:solidFill>
              <a:srgbClr val="D6D1C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154680" y="2233331"/>
            <a:ext cx="594360" cy="0"/>
          </a:xfrm>
          <a:prstGeom prst="line">
            <a:avLst/>
          </a:prstGeom>
          <a:noFill/>
          <a:ln w="9525">
            <a:solidFill>
              <a:srgbClr val="D6D1C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669280" y="914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5E7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~45%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664208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CONTRIBUTION MARGIN · BEFORE OTHER COSTS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F7378"/>
                </a:solidFill>
              </a:rPr>
              <a:t>servings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₹29.80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F7378"/>
                </a:solidFill>
              </a:rPr>
              <a:t>per serving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1,500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F7378"/>
                </a:solidFill>
              </a:rPr>
              <a:t>kits / month capacity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1,500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4048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KITS / MONTH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40280" y="3675888"/>
            <a:ext cx="3200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65176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2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₹2,23,500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384048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434840" y="3675888"/>
            <a:ext cx="3200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84632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73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₹1,23,000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84048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ASSEMBLY + PACKAGING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29400" y="3675888"/>
            <a:ext cx="32004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04088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7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₹1,00,500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384048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CONTRIBUTION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40050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OTHER OPERATING COSTS — NOT PROFIT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2245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YET INCLUDED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57200" y="44074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9525">
            <a:solidFill>
              <a:srgbClr val="D6D1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2B"/>
                </a:solidFill>
              </a:rPr>
              <a:t>Delivery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371600" y="44074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9525">
            <a:solidFill>
              <a:srgbClr val="D6D1C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37160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2B"/>
                </a:solidFill>
              </a:rPr>
              <a:t>Sampling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286000" y="44074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9525">
            <a:solidFill>
              <a:srgbClr val="D6D1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28600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2B"/>
                </a:solidFill>
              </a:rPr>
              <a:t>Marketing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200400" y="44074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9525">
            <a:solidFill>
              <a:srgbClr val="D6D1C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0040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2B"/>
                </a:solidFill>
              </a:rPr>
              <a:t>Discounts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114800" y="44074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9525">
            <a:solidFill>
              <a:srgbClr val="D6D1C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1480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2B"/>
                </a:solidFill>
              </a:rPr>
              <a:t>Payment fees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029200" y="44074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9525">
            <a:solidFill>
              <a:srgbClr val="D6D1C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2B"/>
                </a:solidFill>
              </a:rPr>
              <a:t>Storage / wastage</a:t>
            </a:r>
            <a:endParaRPr lang="en-US" sz="650" dirty="0"/>
          </a:p>
        </p:txBody>
      </p:sp>
      <p:sp>
        <p:nvSpPr>
          <p:cNvPr id="49" name="Text 47"/>
          <p:cNvSpPr txBox="1"/>
          <p:nvPr/>
        </p:nvSpPr>
        <p:spPr>
          <a:xfrm>
            <a:off x="612648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F7378"/>
                </a:solidFill>
              </a:rPr>
              <a:t>Final economics depend on distribution and operating costs.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 90-DAY PILOT → SCALE DECISION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 days to validate before scaling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6344" y="1271016"/>
            <a:ext cx="201168" cy="201168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960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 0</a:t>
            </a:r>
            <a:endParaRPr lang="en-US" sz="700" dirty="0"/>
          </a:p>
          <a:p>
            <a:pPr indent="0" marL="0">
              <a:buNone/>
            </a:pPr>
            <a:r>
              <a:rPr lang="en-US" sz="700" b="1" spc="10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005840" y="1335024"/>
            <a:ext cx="2560320" cy="73152"/>
          </a:xfrm>
          <a:prstGeom prst="rect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91440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DAYS 1–30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069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0412" y="1696212"/>
            <a:ext cx="64008" cy="64008"/>
          </a:xfrm>
          <a:prstGeom prst="ellipse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16459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Product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90572" y="1696212"/>
            <a:ext cx="64008" cy="64008"/>
          </a:xfrm>
          <a:prstGeom prst="ellipse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6459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Taste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10412" y="1943100"/>
            <a:ext cx="64008" cy="64008"/>
          </a:xfrm>
          <a:prstGeom prst="ellipse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1892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Prep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90572" y="1943100"/>
            <a:ext cx="64008" cy="64008"/>
          </a:xfrm>
          <a:prstGeom prst="ellipse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1892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Packaging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10412" y="2189988"/>
            <a:ext cx="64008" cy="64008"/>
          </a:xfrm>
          <a:prstGeom prst="ellipse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2139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PG mapping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90572" y="2189988"/>
            <a:ext cx="64008" cy="64008"/>
          </a:xfrm>
          <a:prstGeom prst="ellipse">
            <a:avLst/>
          </a:prstGeom>
          <a:solidFill>
            <a:srgbClr val="B7C8A8"/>
          </a:solidFill>
          <a:ln w="12700">
            <a:solidFill>
              <a:srgbClr val="B7C8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2139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₹149 test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03320" y="1335024"/>
            <a:ext cx="2560320" cy="73152"/>
          </a:xfrm>
          <a:prstGeom prst="rect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91440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DAYS 31–60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1069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07892" y="1696212"/>
            <a:ext cx="64008" cy="6400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0480" y="16459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Sampling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88052" y="1696212"/>
            <a:ext cx="64008" cy="6400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16459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Breakfast Week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07892" y="1943100"/>
            <a:ext cx="64008" cy="6400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40480" y="1892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PG bulk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8052" y="1943100"/>
            <a:ext cx="64008" cy="6400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0" y="1892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Pickup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07892" y="2189988"/>
            <a:ext cx="64008" cy="6400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40480" y="2139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Referral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88052" y="2189988"/>
            <a:ext cx="64008" cy="64008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20640" y="2139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Selective delivery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0" y="1335024"/>
            <a:ext cx="2560320" cy="73152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91440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5E7F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DAYS 61–90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1069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DECISION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05372" y="1696212"/>
            <a:ext cx="64008" cy="64008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16459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Repeat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85532" y="1696212"/>
            <a:ext cx="64008" cy="64008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16459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Demand density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5372" y="1943100"/>
            <a:ext cx="64008" cy="64008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37960" y="1892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Distribution economics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685532" y="1943100"/>
            <a:ext cx="64008" cy="64008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18120" y="1892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Product improvement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5372" y="2189988"/>
            <a:ext cx="64008" cy="64008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37960" y="2139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Operations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263347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F73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SCALE GATES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" y="3017520"/>
            <a:ext cx="118872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57200" y="3246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Taste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Reliable preparation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121408" y="2880360"/>
            <a:ext cx="274320" cy="27432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21408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487168" y="3017520"/>
            <a:ext cx="118872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2121408" y="3246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2121408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Repeat · frequency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Willingness to pay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785616" y="2880360"/>
            <a:ext cx="274320" cy="27432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8561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51376" y="3017520"/>
            <a:ext cx="118872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3785616" y="3246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3785616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Demand density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Delivery economics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449824" y="2880360"/>
            <a:ext cx="274320" cy="274320"/>
          </a:xfrm>
          <a:prstGeom prst="ellipse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498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815584" y="3017520"/>
            <a:ext cx="1188720" cy="0"/>
          </a:xfrm>
          <a:prstGeom prst="line">
            <a:avLst/>
          </a:prstGeom>
          <a:noFill/>
          <a:ln w="12700">
            <a:solidFill>
              <a:srgbClr val="6F7378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5449824" y="3246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ECONOMICS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5449824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Contribution after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variable costs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114032" y="2880360"/>
            <a:ext cx="274320" cy="274320"/>
          </a:xfrm>
          <a:prstGeom prst="ellipse">
            <a:avLst/>
          </a:prstGeom>
          <a:solidFill>
            <a:srgbClr val="5E7F4F"/>
          </a:solidFill>
          <a:ln w="12700">
            <a:solidFill>
              <a:srgbClr val="5E7F4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1403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7114032" y="3246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022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7114032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Quality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F7378"/>
                </a:solidFill>
              </a:rPr>
              <a:t>Shelf life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85800" y="39319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hyperlocal convenience-breakfast business first. </a:t>
            </a:r>
            <a:pPr indent="0" marL="0">
              <a:buNone/>
            </a:pPr>
            <a:r>
              <a:rPr lang="en-US" sz="1600" b="1" dirty="0">
                <a:solidFill>
                  <a:srgbClr val="B7C8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only after the model proves repeatable.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Lokendra Joshi</dc:creator>
  <dc:subject>unspecified</dc:subject>
  <dc:title>Case Study no. 58 - Local Breakfast Ingredient Kit</dc:title>
  <dcterms:created xsi:type="dcterms:W3CDTF">2026-10-03T10:00:38.0000000Z</dcterms:created>
  <dcterms:modified xsi:type="dcterms:W3CDTF">2026-10-03T03:01:02.7950000Z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